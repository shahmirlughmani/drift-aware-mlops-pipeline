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accuracy (across streams × seeds)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F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07A3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ADWIN</c:v>
                  </c:pt>
                  <c:pt idx="1">
                    <c:v>DDM</c:v>
                  </c:pt>
                  <c:pt idx="2">
                    <c:v>EDDM</c:v>
                  </c:pt>
                  <c:pt idx="3">
                    <c:v>KSWIN</c:v>
                  </c:pt>
                  <c:pt idx="4">
                    <c:v>PageH.</c:v>
                  </c:pt>
                  <c:pt idx="5">
                    <c:v>HybridDD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0.796</c:v>
                </c:pt>
                <c:pt idx="1">
                  <c:v>0.791</c:v>
                </c:pt>
                <c:pt idx="2">
                  <c:v>0.785</c:v>
                </c:pt>
                <c:pt idx="3">
                  <c:v>0.778</c:v>
                </c:pt>
                <c:pt idx="4">
                  <c:v>0.789</c:v>
                </c:pt>
                <c:pt idx="5">
                  <c:v>0.799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B1F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C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1"/>
          <c:min val="0.74"/>
        </c:scaling>
        <c:delete val="0"/>
        <c:axPos val="l"/>
        <c:majorGridlines>
          <c:spPr>
            <a:ln w="6350" cap="flat">
              <a:solidFill>
                <a:srgbClr val="D8E0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C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A5C73"/>
                </a:solidFill>
                <a:latin typeface="Arial"/>
              </a:defRPr>
            </a:pPr>
            <a:r>
              <a:rPr sz="1100" b="0" i="0" u="none" strike="noStrike">
                <a:solidFill>
                  <a:srgbClr val="4A5C73"/>
                </a:solidFill>
                <a:latin typeface="Arial"/>
              </a:rPr>
              <a:t>Mean detection delay (samples)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detection delay (samples — lower = better)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F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07A3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DDM</c:v>
                  </c:pt>
                  <c:pt idx="1">
                    <c:v>EDDM</c:v>
                  </c:pt>
                  <c:pt idx="2">
                    <c:v>KSWIN</c:v>
                  </c:pt>
                  <c:pt idx="3">
                    <c:v>PageH.</c:v>
                  </c:pt>
                  <c:pt idx="4">
                    <c:v>HybridDD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420</c:v>
                </c:pt>
                <c:pt idx="1">
                  <c:v>87</c:v>
                </c:pt>
                <c:pt idx="2">
                  <c:v>481</c:v>
                </c:pt>
                <c:pt idx="3">
                  <c:v>893</c:v>
                </c:pt>
                <c:pt idx="4">
                  <c:v>421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B1F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C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E0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C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A5C73"/>
                </a:solidFill>
                <a:latin typeface="Arial"/>
              </a:defRPr>
            </a:pPr>
            <a:r>
              <a:rPr sz="1100" b="0" i="0" u="none" strike="noStrike">
                <a:solidFill>
                  <a:srgbClr val="4A5C73"/>
                </a:solidFill>
                <a:latin typeface="Arial"/>
              </a:rPr>
              <a:t>False positive rate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False positive rate (lower = better)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B1F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07A3C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DDM</c:v>
                  </c:pt>
                  <c:pt idx="1">
                    <c:v>EDDM</c:v>
                  </c:pt>
                  <c:pt idx="2">
                    <c:v>KSWIN</c:v>
                  </c:pt>
                  <c:pt idx="3">
                    <c:v>PageH.</c:v>
                  </c:pt>
                  <c:pt idx="4">
                    <c:v>HybridDD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0.33</c:v>
                </c:pt>
                <c:pt idx="1">
                  <c:v>0.98</c:v>
                </c:pt>
                <c:pt idx="2">
                  <c:v>0.85</c:v>
                </c:pt>
                <c:pt idx="3">
                  <c:v>0.5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B1F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C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E0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C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FPR (lower = better)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B1F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Full HybridDD</c:v>
                  </c:pt>
                  <c:pt idx="1">
                    <c:v>no cooldown</c:v>
                  </c:pt>
                  <c:pt idx="2">
                    <c:v>no consensus</c:v>
                  </c:pt>
                  <c:pt idx="3">
                    <c:v>no override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0.62</c:v>
                </c:pt>
                <c:pt idx="2">
                  <c:v>0.91</c:v>
                </c:pt>
                <c:pt idx="3">
                  <c:v>0.04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Detection delay (norm.)</c:v>
                </c:pt>
              </c:strCache>
            </c:strRef>
          </c:tx>
          <c:spPr>
            <a:solidFill>
              <a:srgbClr val="E07A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B1F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Full HybridDD</c:v>
                  </c:pt>
                  <c:pt idx="1">
                    <c:v>no cooldown</c:v>
                  </c:pt>
                  <c:pt idx="2">
                    <c:v>no consensus</c:v>
                  </c:pt>
                  <c:pt idx="3">
                    <c:v>no override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0.95</c:v>
                </c:pt>
                <c:pt idx="2">
                  <c:v>0.74</c:v>
                </c:pt>
                <c:pt idx="3">
                  <c:v>1.31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B1F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C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8E0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C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A5C73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FAST-NUCES · MLOPS COURSE PROJECT · TRACK II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Drift-Aware Adaptive Retraining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1874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Streaming Classification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4864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7889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HybridDD: a consensus-plus-confidence drift detector wired into a closed-loop MLOps stack.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solidFill>
            <a:srgbClr val="15204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Zaid</a:t>
            </a:r>
            <a:pPr indent="0" marL="0">
              <a:buNone/>
            </a:pPr>
            <a:r>
              <a:rPr lang="en-US" sz="13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22i-0556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251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Shahmir Asif</a:t>
            </a:r>
            <a:pPr indent="0" marL="0">
              <a:buNone/>
            </a:pPr>
            <a:r>
              <a:rPr lang="en-US" sz="13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22i-1883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AbuBakr Shahid</a:t>
            </a:r>
            <a:pPr indent="0" marL="0">
              <a:buNone/>
            </a:pPr>
            <a:r>
              <a:rPr lang="en-US" sz="13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22i-1934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3767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0" y="4023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 + Q&amp;A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42519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MLOps pipeline · IEEE paper · live demo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· 15 MIN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1234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5087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drift kills production ML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94960" y="1234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Related work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94960" y="15087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 families and the gap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01168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2286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planes, one closed loop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201168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9496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HybridDD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94960" y="2286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+ confidence rule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3444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34440" y="3063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Streams, models, protocol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278892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9496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94960" y="30632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· delay · stats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234440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 &amp; sensitivity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234440" y="3840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component matters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356616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94960" y="3566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MLOps in action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394960" y="3840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+ monitoring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Drift-Aware MLOps · FAST-NUCES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0" y="48646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95528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age. Production never warns you.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657600" cy="23774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173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deployed ML models silently degrade within a year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5C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Sculley et al. — "Hidden Technical Debt in ML Systems" (NeurIPS 2015)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34840" y="1371600"/>
            <a:ext cx="91440" cy="777240"/>
          </a:xfrm>
          <a:prstGeom prst="rect">
            <a:avLst/>
          </a:prstGeom>
          <a:solidFill>
            <a:srgbClr val="E07A3C"/>
          </a:solidFill>
          <a:ln w="12700">
            <a:solidFill>
              <a:srgbClr val="E07A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drift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16642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 | x) shifts. Yesterday's decision boundary is wrong today.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2240280"/>
            <a:ext cx="91440" cy="777240"/>
          </a:xfrm>
          <a:prstGeom prst="rect">
            <a:avLst/>
          </a:prstGeom>
          <a:solidFill>
            <a:srgbClr val="E07A3C"/>
          </a:solidFill>
          <a:ln w="12700">
            <a:solidFill>
              <a:srgbClr val="E07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240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Covariate drift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25328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P(x) shifts. Inputs you've never seen — features go out of distribution.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3108960"/>
            <a:ext cx="91440" cy="777240"/>
          </a:xfrm>
          <a:prstGeom prst="rect">
            <a:avLst/>
          </a:prstGeom>
          <a:solidFill>
            <a:srgbClr val="E07A3C"/>
          </a:solidFill>
          <a:ln w="12700">
            <a:solidFill>
              <a:srgbClr val="E07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3108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Silent failure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17720" y="34015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drops, but no exception. Logs look healthy until the business notices.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alone is not enough — the system must close the loop.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Drift-Aware MLOps · FAST-NUCES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0" y="48646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95528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set out to answer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7772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1887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08760" y="148132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hybrid of performance + distribution signals reduce mean detection delay versus single-signal detectors, without inflating false positives?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7772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8600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08760" y="22860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08760" y="257860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an adaptive retrain loop driven by drift events recover accuracy faster than scheduled retraining?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7772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832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3832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08760" y="3675888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drift detection be exposed as first-class observability — alertable, queryable, reproducible — using only Prometheus + Grafana?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Drift-Aware MLOps · FAST-NUCES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48646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5528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families. Each blind to half the problem.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377440"/>
                <a:gridCol w="228600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DDM, EDDM, Page-Hinkley, ADWIN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Reacts to accuracy degradation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Misses virtual drift; needs labels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KSWIN, MMD, χ²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Catches covariate shift, label-free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0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Noisy; fires on harmless fluctuations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(this work)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DDM ⊕ KSWIN with consensus + override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axes, with cooldown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hyperparameters to tune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0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6118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 </a:t>
            </a:r>
            <a:pPr indent="0" marL="0">
              <a:buNone/>
            </a:pPr>
            <a:r>
              <a:rPr lang="en-US" sz="13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 reviewed across drift detection, MLOps, streaming evaluation, and observability — see refs.bib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Drift-Aware MLOps · FAST-NUCES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0" y="48646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95528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planes. One closed loop.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1920240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 · /reload · /metrics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123444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234440"/>
            <a:ext cx="192024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417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97480" y="1691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MLflow + Postgres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9748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· params · models · artifacts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23444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234440"/>
            <a:ext cx="1920240" cy="914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417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1691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Prometheus + Grafana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dashboards · 4 alert rules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123444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234440"/>
            <a:ext cx="1920240" cy="91440"/>
          </a:xfrm>
          <a:prstGeom prst="rect">
            <a:avLst/>
          </a:prstGeom>
          <a:solidFill>
            <a:srgbClr val="37516B"/>
          </a:solidFill>
          <a:ln w="12700">
            <a:solidFill>
              <a:srgbClr val="3751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14173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751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03720" y="1691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Actions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0372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· test · build · deploy · paper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CLOSED LOOP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520440"/>
            <a:ext cx="128016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37947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serves /predict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 rot="5400000">
            <a:off x="1746504" y="3831336"/>
            <a:ext cx="91440" cy="164592"/>
          </a:xfrm>
          <a:prstGeom prst="rtTriangl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74520" y="3520440"/>
            <a:ext cx="128016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2024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965960" y="37947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 scrapes /metrics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 rot="5400000">
            <a:off x="3163824" y="3831336"/>
            <a:ext cx="91440" cy="164592"/>
          </a:xfrm>
          <a:prstGeom prst="rtTriangl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3520440"/>
            <a:ext cx="128016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83280" y="37947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HybridDD detects drift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 rot="5400000">
            <a:off x="4581144" y="3831336"/>
            <a:ext cx="91440" cy="164592"/>
          </a:xfrm>
          <a:prstGeom prst="rtTriangl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9160" y="3520440"/>
            <a:ext cx="128016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800600" y="37947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event → POST /reload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 rot="5400000">
            <a:off x="5998464" y="3831336"/>
            <a:ext cx="91440" cy="164592"/>
          </a:xfrm>
          <a:prstGeom prst="rtTriangl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26480" y="3520440"/>
            <a:ext cx="128016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7220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217920" y="37947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 fits new model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 rot="5400000">
            <a:off x="7415784" y="3831336"/>
            <a:ext cx="91440" cy="164592"/>
          </a:xfrm>
          <a:prstGeom prst="rtTriangl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543800" y="3520440"/>
            <a:ext cx="128016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C72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635240" y="37947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registers + version bumps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seven services run on docker-compose · MLflow backed by Postgres · Prometheus scrape interval 15s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Drift-Aware MLOps · FAST-NUCES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0" y="48646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95528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CONTRIBUTION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HybridDD: a consensus-plus-confidence rule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435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DDM (performance)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rolling error rate. Fires on sustained accuracy drop.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234440"/>
            <a:ext cx="26517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417320"/>
            <a:ext cx="502920" cy="502920"/>
          </a:xfrm>
          <a:prstGeom prst="ellipse">
            <a:avLst/>
          </a:prstGeom>
          <a:solidFill>
            <a:srgbClr val="E07A3C"/>
          </a:solidFill>
          <a:ln w="12700">
            <a:solidFill>
              <a:srgbClr val="E07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12280" y="14356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KSWIN (distribution)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20116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Two-window KS test on standardized feature norm. Fires on covariate shift.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0" y="1417320"/>
            <a:ext cx="1828800" cy="960120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HybridDD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· cooldown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08960" y="1892808"/>
            <a:ext cx="548640" cy="0"/>
          </a:xfrm>
          <a:prstGeom prst="line">
            <a:avLst/>
          </a:prstGeom>
          <a:noFill/>
          <a:ln w="15240">
            <a:solidFill>
              <a:srgbClr val="4A5C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1892808"/>
            <a:ext cx="548640" cy="0"/>
          </a:xfrm>
          <a:prstGeom prst="line">
            <a:avLst/>
          </a:prstGeom>
          <a:noFill/>
          <a:ln w="15240">
            <a:solidFill>
              <a:srgbClr val="4A5C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834640"/>
            <a:ext cx="82296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834640"/>
            <a:ext cx="91440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RULE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2461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HARD drift event when </a:t>
            </a:r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(consensus) </a:t>
            </a:r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DDM and KSWIN both fire within 200 steps</a:t>
            </a:r>
            <a:pPr indent="0" marL="0">
              <a:buNone/>
            </a:pPr>
            <a:r>
              <a:rPr lang="en-US" sz="1300" b="1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OR — </a:t>
            </a:r>
            <a:pPr indent="0" marL="0">
              <a:buNone/>
            </a:pPr>
            <a:r>
              <a:rPr lang="en-US" sz="1300" b="1" dirty="0">
                <a:solidFill>
                  <a:srgbClr val="E0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(confidence override) </a:t>
            </a:r>
            <a:pPr indent="0" marL="0">
              <a:buNone/>
            </a:pPr>
            <a:r>
              <a:rPr lang="en-US" sz="13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DDM fires AND posterior error ≥ 0.35.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3931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 </a:t>
            </a:r>
            <a:pPr indent="0" marL="0">
              <a:buNone/>
            </a:pPr>
            <a:r>
              <a:rPr lang="en-US" sz="1100" i="1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500 steps suppresses re-fires after a real drift, eliminating retraining storms. The override gives fast reaction to high-impact accuracy drops; consensus keeps false positives low under harmless covariate fluctuations.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Drift-Aware MLOps · FAST-NUCES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0" y="48646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HybridDD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5528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ANATOMY · SRC/DRIFT/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detectors behind one interface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3291840"/>
          </a:xfrm>
          <a:prstGeom prst="rect">
            <a:avLst/>
          </a:prstGeom>
          <a:solidFill>
            <a:srgbClr val="0B1F33"/>
          </a:solidFill>
          <a:ln w="12700">
            <a:solidFill>
              <a:srgbClr val="21295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F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base.py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DriftDetector(Protocol):</a:t>
            </a:r>
            <a:endParaRPr lang="en-US" sz="1100" dirty="0"/>
          </a:p>
          <a:p>
            <a:pPr indent="0" marL="0">
              <a:buNone/>
            </a:pPr>
            <a:r>
              <a:rPr lang="en-US" alt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update(</a:t>
            </a:r>
            <a:endParaRPr lang="en-US" sz="1100" dirty="0"/>
          </a:p>
          <a:p>
            <a:pPr indent="0" marL="0">
              <a:buNone/>
            </a:pPr>
            <a:r>
              <a:rPr lang="en-US" alt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self,</a:t>
            </a:r>
            <a:endParaRPr lang="en-US" sz="1100" dirty="0"/>
          </a:p>
          <a:p>
            <a:pPr indent="0" marL="0">
              <a:buNone/>
            </a:pPr>
            <a:r>
              <a:rPr lang="en-US" alt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error: int,</a:t>
            </a:r>
            <a:endParaRPr lang="en-US" sz="1100" dirty="0"/>
          </a:p>
          <a:p>
            <a:pPr indent="0" marL="0">
              <a:buNone/>
            </a:pPr>
            <a:r>
              <a:rPr lang="en-US" alt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x: np.ndarray | None = None,</a:t>
            </a:r>
            <a:endParaRPr lang="en-US" sz="1100" dirty="0"/>
          </a:p>
          <a:p>
            <a:pPr indent="0" marL="0">
              <a:buNone/>
            </a:pPr>
            <a:r>
              <a:rPr lang="en-US" alt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 -&gt; DriftEvent | None: ...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alt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reset(self) -&gt; None: ...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alt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@dataclass(frozen=True)</a:t>
            </a:r>
            <a:endParaRPr lang="en-US" sz="1100" dirty="0"/>
          </a:p>
          <a:p>
            <a:pPr indent="0" marL="0">
              <a:buNone/>
            </a:pPr>
            <a:r>
              <a:rPr lang="en-US" alt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DriftEvent:</a:t>
            </a:r>
            <a:endParaRPr lang="en-US" sz="1100" dirty="0"/>
          </a:p>
          <a:p>
            <a:pPr indent="0" marL="0">
              <a:buNone/>
            </a:pPr>
            <a:r>
              <a:rPr lang="en-US" alt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index: int</a:t>
            </a:r>
            <a:endParaRPr lang="en-US" sz="1100" dirty="0"/>
          </a:p>
          <a:p>
            <a:pPr indent="0" marL="0">
              <a:buNone/>
            </a:pPr>
            <a:r>
              <a:rPr lang="en-US" alt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severity: float</a:t>
            </a:r>
            <a:endParaRPr lang="en-US" sz="1100" dirty="0"/>
          </a:p>
          <a:p>
            <a:pPr indent="0" marL="0">
              <a:buNone/>
            </a:pPr>
            <a:r>
              <a:rPr lang="en-US" alt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detector: str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· build_detector(name)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508760"/>
            <a:ext cx="3931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5087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ADWINDetector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46520" y="1508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ADWIN(δ=0.002)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965960"/>
            <a:ext cx="3931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9659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DDMDetector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19659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30 · drift 3.0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2423160"/>
            <a:ext cx="3931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4231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EDDMDetector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24231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α=0.95 · β=0.9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3931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8803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PageHinkleyDetector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46520" y="28803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δ=0.005 · θ=50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3337560"/>
            <a:ext cx="3931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3375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KSWINDetector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46520" y="33375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α=0.005 · win=100 · stat=30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3794760"/>
            <a:ext cx="3931920" cy="384048"/>
          </a:xfrm>
          <a:prstGeom prst="rect">
            <a:avLst/>
          </a:prstGeom>
          <a:solidFill>
            <a:srgbClr val="E6F0F7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7947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HybridDriftDetector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37947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200 · override 0.35 · cooldown 500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unit + integration tests pass · ruff · mypy · pytest on 3.10 / 3.11 / 3.12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Drift-Aware MLOps · FAST-NUCES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0" y="48646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anatomy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95528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evaluated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34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240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ELEC2 (real)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 (abrupt)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Hyperplane (gradual)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18872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234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2240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ADWIN · DDM · EDDM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KSWIN · Page-Hinkley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HybridDD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234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466344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240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logistic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Hoeffding tree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66560" y="1188720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66560" y="123444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676656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2240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· 1337 · 2024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8229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108960"/>
            <a:ext cx="9144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3520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Prequential test-then-train</a:t>
            </a:r>
            <a:pPr indent="0" marL="0">
              <a:buNone/>
            </a:pPr>
            <a:r>
              <a:rPr lang="en-US" sz="12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each sample is first predicted on, then used to update. Standard interleaved evaluation for streaming ML.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38862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</a:t>
            </a:r>
            <a:pPr indent="0" marL="0">
              <a:buNone/>
            </a:pPr>
            <a:r>
              <a:rPr lang="en-US" sz="11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prequential accuracy · mean detection delay · false-positive rate · miss rate · throughput · p50/p95/p99 latency.  </a:t>
            </a:r>
            <a:pPr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Stats: </a:t>
            </a:r>
            <a:pPr indent="0" marL="0">
              <a:buNone/>
            </a:pPr>
            <a:r>
              <a:rPr lang="en-US" sz="11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Friedman with Nemenyi post-hoc, α=0.05.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Drift-Aware MLOps · FAST-NUCES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0" y="48646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95528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PREQUENTIAL ACCURACY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HybridDD ties the best detectors on accuracy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34440"/>
          <a:ext cx="58521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583680" y="1234440"/>
            <a:ext cx="21031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0" y="1234440"/>
            <a:ext cx="2103120" cy="91440"/>
          </a:xfrm>
          <a:prstGeom prst="rect">
            <a:avLst/>
          </a:prstGeom>
          <a:solidFill>
            <a:srgbClr val="E07A3C"/>
          </a:solidFill>
          <a:ln w="12700">
            <a:solidFill>
              <a:srgbClr val="E07A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2084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720840" y="1691640"/>
            <a:ext cx="1828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HybridDD matches ADWIN — the best single detector — and beats DDM, EDDM, KSWIN, and Page-Hinkley.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720840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significance covered on slide 12.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Drift-Aware MLOps · FAST-NUCES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0" y="48646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accuracy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5528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DELAY &amp; FPR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detection delay — without inflating false positives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34440"/>
          <a:ext cx="42062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846320" y="1234440"/>
          <a:ext cx="38404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53% reduction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mean detection delay vs Page-Hinkley · </a:t>
            </a:r>
            <a:pPr algn="ctr" indent="0" marL="0">
              <a:buNone/>
            </a:pPr>
            <a:r>
              <a:rPr lang="en-US" sz="1100" b="1" dirty="0">
                <a:solidFill>
                  <a:srgbClr val="E0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 FPR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consensus-only configurations.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Drift-Aware MLOps · FAST-NUCES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0" y="48646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delay &amp; FPR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95528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Friedman + Nemenyi: differences are significant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1463040"/>
                <a:gridCol w="30175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 (Friedman)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(rank)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ADWIN ≈ HybridDD ≈ PageH.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Penalised delay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KSWIN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False-positive rate 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ADWIN ≈ HybridDD ≈ PageH.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108960"/>
            <a:ext cx="8229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108960"/>
            <a:ext cx="91440" cy="1417320"/>
          </a:xfrm>
          <a:prstGeom prst="rect">
            <a:avLst/>
          </a:prstGeom>
          <a:solidFill>
            <a:srgbClr val="E07A3C"/>
          </a:solidFill>
          <a:ln w="12700">
            <a:solidFill>
              <a:srgbClr val="E07A3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3200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0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NEMENYI POST-HOC · CD ≈ 3.08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3493008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difference of 3.08 ranks separates statistically distinguishable detectors. </a:t>
            </a:r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HybridDD is in the top group on accuracy and FPR, </a:t>
            </a:r>
            <a:pPr indent="0" marL="0">
              <a:buNone/>
            </a:pPr>
            <a:r>
              <a:rPr lang="en-US" sz="12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tied with the strongest single detectors on each axis — i.e. it never loses on its dominant metric.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Drift-Aware MLOps · FAST-NUCES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0" y="48646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validation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95528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component earns its keep</a:t>
            </a:r>
            <a:endParaRPr lang="en-US" sz="28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34440"/>
          <a:ext cx="58521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583680" y="1234440"/>
            <a:ext cx="21031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0" y="1234440"/>
            <a:ext cx="210312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2084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BARS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720840" y="1691640"/>
            <a:ext cx="1828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Cooldown → </a:t>
            </a:r>
            <a:pPr indent="0" marL="0">
              <a:buNone/>
            </a:pPr>
            <a:r>
              <a:rPr lang="en-US" sz="95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against retrain storms (FPR 0.62 without it).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→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FPR firewall (FPR 0.91 without it).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→ 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under severe drift (delay +31% without it).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experiments/ablation.py · pre-registered configurations · 3 seeds × 3 streams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Drift-Aware MLOps · FAST-NUCES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572000" y="48646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5528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is robust to hyperparameters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8016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consensus_window →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80160" y="12527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057400" y="12527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34640" y="12527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11880" y="12527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0" y="12527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463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conf_threshold 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15087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80160" y="1417320"/>
            <a:ext cx="777240" cy="502920"/>
          </a:xfrm>
          <a:prstGeom prst="rect">
            <a:avLst/>
          </a:prstGeom>
          <a:solidFill>
            <a:srgbClr val="D7E5EB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14173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57400" y="1417320"/>
            <a:ext cx="777240" cy="502920"/>
          </a:xfrm>
          <a:prstGeom prst="rect">
            <a:avLst/>
          </a:prstGeom>
          <a:solidFill>
            <a:srgbClr val="91B6C8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57400" y="14173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34640" y="1417320"/>
            <a:ext cx="777240" cy="502920"/>
          </a:xfrm>
          <a:prstGeom prst="rect">
            <a:avLst/>
          </a:prstGeom>
          <a:solidFill>
            <a:srgbClr val="74A3B9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14173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11880" y="1417320"/>
            <a:ext cx="777240" cy="502920"/>
          </a:xfrm>
          <a:prstGeom prst="rect">
            <a:avLst/>
          </a:prstGeom>
          <a:solidFill>
            <a:srgbClr val="7EA9BE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1880" y="14173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1417320"/>
            <a:ext cx="777240" cy="502920"/>
          </a:xfrm>
          <a:prstGeom prst="rect">
            <a:avLst/>
          </a:prstGeom>
          <a:solidFill>
            <a:srgbClr val="A5C4D2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141732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20116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280160" y="1920240"/>
            <a:ext cx="777240" cy="502920"/>
          </a:xfrm>
          <a:prstGeom prst="rect">
            <a:avLst/>
          </a:prstGeom>
          <a:solidFill>
            <a:srgbClr val="AFCAD7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0160" y="19202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57400" y="1920240"/>
            <a:ext cx="777240" cy="502920"/>
          </a:xfrm>
          <a:prstGeom prst="rect">
            <a:avLst/>
          </a:prstGeom>
          <a:solidFill>
            <a:srgbClr val="6095AF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57400" y="19202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834640" y="1920240"/>
            <a:ext cx="777240" cy="502920"/>
          </a:xfrm>
          <a:prstGeom prst="rect">
            <a:avLst/>
          </a:prstGeom>
          <a:solidFill>
            <a:srgbClr val="387B9B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0" y="19202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11880" y="1920240"/>
            <a:ext cx="777240" cy="502920"/>
          </a:xfrm>
          <a:prstGeom prst="rect">
            <a:avLst/>
          </a:prstGeom>
          <a:solidFill>
            <a:srgbClr val="4C88A5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11880" y="19202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389120" y="1920240"/>
            <a:ext cx="777240" cy="502920"/>
          </a:xfrm>
          <a:prstGeom prst="rect">
            <a:avLst/>
          </a:prstGeom>
          <a:solidFill>
            <a:srgbClr val="7EA9BE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89120" y="192024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77240" y="25146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280160" y="2423160"/>
            <a:ext cx="777240" cy="502920"/>
          </a:xfrm>
          <a:prstGeom prst="rect">
            <a:avLst/>
          </a:prstGeom>
          <a:solidFill>
            <a:srgbClr val="91B6C8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80160" y="242316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057400" y="2423160"/>
            <a:ext cx="777240" cy="502920"/>
          </a:xfrm>
          <a:prstGeom prst="rect">
            <a:avLst/>
          </a:prstGeom>
          <a:solidFill>
            <a:srgbClr val="4282A0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57400" y="242316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834640" y="2423160"/>
            <a:ext cx="777240" cy="502920"/>
          </a:xfrm>
          <a:prstGeom prst="rect">
            <a:avLst/>
          </a:prstGeom>
          <a:solidFill>
            <a:srgbClr val="1A678C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0" y="242316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11880" y="2423160"/>
            <a:ext cx="777240" cy="502920"/>
          </a:xfrm>
          <a:prstGeom prst="rect">
            <a:avLst/>
          </a:prstGeom>
          <a:solidFill>
            <a:srgbClr val="2E7496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11880" y="242316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389120" y="2423160"/>
            <a:ext cx="777240" cy="502920"/>
          </a:xfrm>
          <a:prstGeom prst="rect">
            <a:avLst/>
          </a:prstGeom>
          <a:solidFill>
            <a:srgbClr val="6095AF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0" y="242316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77240" y="30175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280160" y="2926080"/>
            <a:ext cx="777240" cy="502920"/>
          </a:xfrm>
          <a:prstGeom prst="rect">
            <a:avLst/>
          </a:prstGeom>
          <a:solidFill>
            <a:srgbClr val="A5C4D2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280160" y="29260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057400" y="2926080"/>
            <a:ext cx="777240" cy="502920"/>
          </a:xfrm>
          <a:prstGeom prst="rect">
            <a:avLst/>
          </a:prstGeom>
          <a:solidFill>
            <a:srgbClr val="6095AF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57400" y="29260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834640" y="2926080"/>
            <a:ext cx="777240" cy="502920"/>
          </a:xfrm>
          <a:prstGeom prst="rect">
            <a:avLst/>
          </a:prstGeom>
          <a:solidFill>
            <a:srgbClr val="387B9B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34640" y="29260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611880" y="2926080"/>
            <a:ext cx="777240" cy="502920"/>
          </a:xfrm>
          <a:prstGeom prst="rect">
            <a:avLst/>
          </a:prstGeom>
          <a:solidFill>
            <a:srgbClr val="4C88A5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11880" y="29260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389120" y="2926080"/>
            <a:ext cx="777240" cy="502920"/>
          </a:xfrm>
          <a:prstGeom prst="rect">
            <a:avLst/>
          </a:prstGeom>
          <a:solidFill>
            <a:srgbClr val="7EA9BE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89120" y="29260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77240" y="35204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280160" y="3429000"/>
            <a:ext cx="777240" cy="502920"/>
          </a:xfrm>
          <a:prstGeom prst="rect">
            <a:avLst/>
          </a:prstGeom>
          <a:solidFill>
            <a:srgbClr val="CDDEE6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280160" y="34290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057400" y="3429000"/>
            <a:ext cx="777240" cy="502920"/>
          </a:xfrm>
          <a:prstGeom prst="rect">
            <a:avLst/>
          </a:prstGeom>
          <a:solidFill>
            <a:srgbClr val="87B0C3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057400" y="34290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834640" y="3429000"/>
            <a:ext cx="777240" cy="502920"/>
          </a:xfrm>
          <a:prstGeom prst="rect">
            <a:avLst/>
          </a:prstGeom>
          <a:solidFill>
            <a:srgbClr val="6A9CB4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834640" y="34290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611880" y="3429000"/>
            <a:ext cx="777240" cy="502920"/>
          </a:xfrm>
          <a:prstGeom prst="rect">
            <a:avLst/>
          </a:prstGeom>
          <a:solidFill>
            <a:srgbClr val="74A3B9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11880" y="34290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389120" y="3429000"/>
            <a:ext cx="777240" cy="502920"/>
          </a:xfrm>
          <a:prstGeom prst="rect">
            <a:avLst/>
          </a:prstGeom>
          <a:solidFill>
            <a:srgbClr val="9BBDCD"/>
          </a:solidFill>
          <a:ln w="6350">
            <a:solidFill>
              <a:srgbClr val="D8E0E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389120" y="34290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816352" y="2404872"/>
            <a:ext cx="813816" cy="539496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E07A3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377440" y="397764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E0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57200" y="44348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(accuracy − FPR − norm. delay)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5669280" y="1417320"/>
            <a:ext cx="30175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5669280" y="1417320"/>
            <a:ext cx="3017520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0644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5806440" y="1874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broad plateau of good configurations around the chosen (200, 0.35) — the result is not a tuning artefact.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5806440" y="26974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i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of plateau: </a:t>
            </a:r>
            <a:pPr indent="0" marL="0">
              <a:buNone/>
            </a:pPr>
            <a:r>
              <a:rPr lang="en-US" sz="950" i="1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small windows (&lt;150) starve consensus; very high thresholds (&gt;0.40) defeat the override.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Drift-Aware MLOps · FAST-NUCES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4572000" y="48646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95528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· THE CLOSED LOOP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drift event to new model — without a human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80467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2194560"/>
            <a:ext cx="274320" cy="27432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C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 start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serves v1; Grafana steady; rolling acc ≈ 0.82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68880" y="2194560"/>
            <a:ext cx="274320" cy="27432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C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4k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 injected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28803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switches concept; raw error rate climbs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0" y="2194560"/>
            <a:ext cx="274320" cy="274320"/>
          </a:xfrm>
          <a:prstGeom prst="ellipse">
            <a:avLst/>
          </a:prstGeom>
          <a:solidFill>
            <a:srgbClr val="E07A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C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≈ 4.3k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HybridDD fires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91840" y="28803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path: posterior error 0.41 ≥ 0.35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212080" y="2194560"/>
            <a:ext cx="274320" cy="27432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C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≈ 4.4k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Trainer kicks 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28803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/reload triggers warm refit on recent buffer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83680" y="2194560"/>
            <a:ext cx="274320" cy="27432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C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≈ 4.6k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3504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 registered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28803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run logged; model_version_info gauge bumps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955280" y="2194560"/>
            <a:ext cx="274320" cy="274320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5C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≈ 5k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0664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06640" y="28803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acc returns to ≈ 0.83; cooldown engaged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replay this exact sequence on Grafana — see the prediction stream, the drift counter, the retrain event, and the recovery in one frame.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Drift-Aware MLOps · FAST-NUCES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0" y="48646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95528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· PROMETHEUS + GRAFANA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 is a first-class citizen in observability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606040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DASHBOARD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· errors · rolling accuracy · model version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188720"/>
            <a:ext cx="2606040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DASHBOARD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16916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events by detector · severity · retrains · cooldown state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606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188720"/>
            <a:ext cx="2606040" cy="91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DASHBOARD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72200" y="16916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rate · latency p50/p95/p99 · service health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889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97680"/>
                <a:gridCol w="17373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RollingAccuracyLow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ml_rolling_accuracy &lt; 0.6 for 1m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0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RollingAccuracyCritical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ml_rolling_accuracy &lt; 0.5 for 30s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HighDriftRate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increase(ml_drift_events_total[5m]) &gt; 3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07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APIErrorRateHigh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B1F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rate(http_requests_total{5xx}[5m]) &gt; 0.1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04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routed via Alertmanager-ready config — webhook-out is one env var away.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Drift-Aware MLOps · FAST-NUCES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72000" y="48646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95528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· GITHUB ACTIONS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 from a clean clone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55448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ci.yml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94560" y="12344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194560" y="13990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· PR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0" y="123444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931920" y="13990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· mypy · pytest 3.10/11/12 · smoke experiment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8229600" cy="0"/>
          </a:xfrm>
          <a:prstGeom prst="line">
            <a:avLst/>
          </a:prstGeom>
          <a:noFill/>
          <a:ln w="6350">
            <a:solidFill>
              <a:srgbClr val="D8E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155448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docker.yml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201168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194560" y="21762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main · tag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201168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931920" y="21762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4 images · push GHCR · Trivy scan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0"/>
          </a:xfrm>
          <a:prstGeom prst="line">
            <a:avLst/>
          </a:prstGeom>
          <a:noFill/>
          <a:ln w="6350">
            <a:solidFill>
              <a:srgbClr val="D8E0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788920"/>
            <a:ext cx="155448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889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paper.yml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194560" y="278892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194560" y="29535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paper/** changes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1920" y="278892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931920" y="29535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IEEE LaTeX · upload PDF artefact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429000"/>
            <a:ext cx="8229600" cy="0"/>
          </a:xfrm>
          <a:prstGeom prst="line">
            <a:avLst/>
          </a:prstGeom>
          <a:noFill/>
          <a:ln w="6350">
            <a:solidFill>
              <a:srgbClr val="D8E0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566160"/>
            <a:ext cx="1554480" cy="5029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5661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deploy.yml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194560" y="35661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194560" y="37307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dispatch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931920" y="356616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931920" y="37307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GHCR → ECR · ECS redeploy · /health smoke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 reproduce 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regenerates every figure and table in the paper from raw seeds.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Drift-Aware MLOps · FAST-NUCES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0" y="48646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95528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did not do — and what comes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91440" cy="713232"/>
          </a:xfrm>
          <a:prstGeom prst="rect">
            <a:avLst/>
          </a:prstGeom>
          <a:solidFill>
            <a:srgbClr val="E07A3C"/>
          </a:solidFill>
          <a:ln w="12700">
            <a:solidFill>
              <a:srgbClr val="E07A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8872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Univariate KSWIN reduction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4813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collapse multivariate x to its standardised L2 norm. Future: per-feature KS or MMD.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91440" cy="713232"/>
          </a:xfrm>
          <a:prstGeom prst="rect">
            <a:avLst/>
          </a:prstGeom>
          <a:solidFill>
            <a:srgbClr val="E07A3C"/>
          </a:solidFill>
          <a:ln w="12700">
            <a:solidFill>
              <a:srgbClr val="E07A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6596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Tabular-only benchmarks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2585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ELEC2, SEA, hyperplane. No CV / NLP yet — a 2D extension is straightforward but out of scope.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91440" cy="713232"/>
          </a:xfrm>
          <a:prstGeom prst="rect">
            <a:avLst/>
          </a:prstGeom>
          <a:solidFill>
            <a:srgbClr val="E07A3C"/>
          </a:solidFill>
          <a:ln w="12700">
            <a:solidFill>
              <a:srgbClr val="E07A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7432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thresholds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0358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consensus_window and confidence_threshold are constants. A learned gating model is the obvious extension.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91440" cy="713232"/>
          </a:xfrm>
          <a:prstGeom prst="rect">
            <a:avLst/>
          </a:prstGeom>
          <a:solidFill>
            <a:srgbClr val="E07A3C"/>
          </a:solidFill>
          <a:ln w="12700">
            <a:solidFill>
              <a:srgbClr val="E07A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5204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Single-node deploy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81304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target; Kubernetes manifests are a 1–2 day port — Helm chart sketched in docs/adr/0004.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to validity — synthetic streams are ground-truth-labelled but only approximate real distribution shifts.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Drift-Aware MLOps · FAST-NUCES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0" y="48646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95528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to take away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hybrid drift detector wins on both axes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57276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 + confidence override gives top-tier accuracy, lowest FPR, and 53% faster detection than Page-Hinkley — validated by Friedman + Nemenyi.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86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 detection belongs in observability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67004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Counters, gauges, alert rules. Same plumbing as latency. The drift monitor is just another scrape target.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594360" cy="5943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83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loop is reproducible from one command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767328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+ make reproduce regenerates every paper number. CI runs the smoke experiment on every PR.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846320"/>
            <a:ext cx="822960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64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Drift-Aware MLOps · FAST-NUCES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0" y="48646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55280" y="486460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C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Questions.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48640" cy="5486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88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2606040" cy="777240"/>
          </a:xfrm>
          <a:prstGeom prst="rect">
            <a:avLst/>
          </a:prstGeom>
          <a:solidFill>
            <a:srgbClr val="15204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840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4069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github.com/&lt;team&gt;/drift-aware-mlops-pipeline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3749040"/>
            <a:ext cx="2606040" cy="777240"/>
          </a:xfrm>
          <a:prstGeom prst="rect">
            <a:avLst/>
          </a:prstGeom>
          <a:solidFill>
            <a:srgbClr val="15204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3840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66160" y="4069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paper/main.pdf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749040"/>
            <a:ext cx="2606040" cy="777240"/>
          </a:xfrm>
          <a:prstGeom prst="rect">
            <a:avLst/>
          </a:prstGeom>
          <a:solidFill>
            <a:srgbClr val="152045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8404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55080" y="4069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demo/script.md + recording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FAST-NUCES — MLOps Course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Drift-Aware Adaptive Retraining for Streaming Classification</dc:title>
  <dc:subject>PptxGenJS Presentation</dc:subject>
  <dc:creator>Zaid (22i-0556) · Shahmir Asif (22i-1883) · AbuBakr (22i-1934)</dc:creator>
  <cp:lastModifiedBy>Zaid (22i-0556) · Shahmir Asif (22i-1883) · AbuBakr (22i-1934)</cp:lastModifiedBy>
  <cp:revision>1</cp:revision>
  <dcterms:created xsi:type="dcterms:W3CDTF">2026-05-06T18:47:53Z</dcterms:created>
  <dcterms:modified xsi:type="dcterms:W3CDTF">2026-05-06T18:47:53Z</dcterms:modified>
</cp:coreProperties>
</file>